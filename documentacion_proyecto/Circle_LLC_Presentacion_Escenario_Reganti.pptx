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LLC · PRESENTACIÓN DE REFERENCIA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0" y="548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fuéramos con </a:t>
            </a:r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Reganti</a:t>
            </a:r>
            <a:pPr indent="0" marL="0">
              <a:buNone/>
            </a:pP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v1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Cronograma, estado actual y próximos pasos del escenario hipotético v2 alineado con los frameworks publicados por Aishwarya Naresh Reganti y LevelUp Labs en The AI Builder's Handbook (2026).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1F1A0A"/>
          </a:solidFill>
          <a:ln w="6350">
            <a:solidFill>
              <a:srgbClr val="FFB8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2519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160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8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Nota crítica de uso: </a:t>
            </a:r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 presentación es </a:t>
            </a:r>
            <a:pPr indent="0" marL="0">
              <a:buNone/>
            </a:pPr>
            <a:r>
              <a:rPr lang="en-US" sz="1050" b="1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únicamente de referencia visual</a:t>
            </a:r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 El proyecto Circle LLC continúa ejecutando la arquitectura v1 sin cambios.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 DEL ESCENARIO V2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argumento real no es técnico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Circle LLC fuera con Reganti, la decisión no se justificaría por mejor arquitectura sino por una matemática de tiempo de fundador que importa más en fase pre-PMF.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solidFill>
            <a:srgbClr val="11172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refactor cuesta </a:t>
            </a:r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 de runway</a:t>
            </a:r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inicio pero devuelve </a:t>
            </a:r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horas-semana</a:t>
            </a:r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tiempo de fundador durante las 11 semanas restantes. ROI neto: </a:t>
            </a:r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~6.6× en tiempo de fundador</a:t>
            </a:r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actividades comerciales.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651760" cy="11887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221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simple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4074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Simplest level que maneje 90% de casos. Cap 10 del handbook.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3657600"/>
            <a:ext cx="2651760" cy="11887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82219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7472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as infrastructure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74720" y="44074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 del trabajo es post-deployment. Cap 6 del handbook.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3657600"/>
            <a:ext cx="2651760" cy="11887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221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29400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0936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Multi-agent: not yet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44074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90% de equipos. Cap 15 del handbook.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PROYECTO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hoy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Comparativa entre lo que el equipo ejecuta actualmente (v1) y lo que ejecutaría en el escenario alternativo (v2).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269748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54864" cy="2697480"/>
          </a:xfrm>
          <a:prstGeom prst="rect">
            <a:avLst/>
          </a:prstGeom>
          <a:solidFill>
            <a:srgbClr val="FF6FA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EN EJECUCIÓN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actual del equipo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Arquitectura: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35+ agentes especializados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Orquestador: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~5,000 líneas estimadas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 harness: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ítem futuro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Observabilidad: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Sentry + PostHog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 técnica: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120-180 horas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post-launch: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~17h/sem por persona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Costo LLM mensual: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USD 290-790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023360" cy="269748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94560"/>
            <a:ext cx="54864" cy="269748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HIPOTÉTICO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Reganti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017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Arquitectura: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activos + 30 deferidos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Orquestador: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~1,500 líneas (cap explícito)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 harness: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 golden cases día 1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Observabilidad: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Langfuse self-hosted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 técnica: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100-140 horas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post-launch: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~5h/sem por persona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Costo LLM mensual: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USD 150-400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· VISTA DE 90 DÍAS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v2 de 90 días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plan v2 mantiene la estructura de 3 sprints con gates binarios. La diferencia: la primera semana del Sprint M1 se dedica al refactor inicial.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1-7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78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Refactor inicial Reganti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65960" y="2331720"/>
            <a:ext cx="5532120" cy="329184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2331720"/>
            <a:ext cx="553212" cy="3291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2592324" y="2331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2331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17-27h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8-30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80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M1 · Ecosistema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65960" y="2834640"/>
            <a:ext cx="5532120" cy="329184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9172" y="2834640"/>
            <a:ext cx="1290828" cy="32918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2592324" y="2843784"/>
            <a:ext cx="1144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+ 10 ideas + Ads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89520" y="2834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4,500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31-60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83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M2 · Primera Fábrica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65960" y="3337560"/>
            <a:ext cx="5532120" cy="329184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21" name="Shape 19"/>
          <p:cNvSpPr/>
          <p:nvPr/>
        </p:nvSpPr>
        <p:spPr>
          <a:xfrm>
            <a:off x="3810000" y="3337560"/>
            <a:ext cx="1844040" cy="32918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2" name="Text 20"/>
          <p:cNvSpPr/>
          <p:nvPr/>
        </p:nvSpPr>
        <p:spPr>
          <a:xfrm>
            <a:off x="3883152" y="3346704"/>
            <a:ext cx="1697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Beta users + LOI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89520" y="33375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61-90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986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M3 · Revenue Cero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65960" y="3840480"/>
            <a:ext cx="5532120" cy="329184"/>
          </a:xfrm>
          <a:prstGeom prst="rect">
            <a:avLst/>
          </a:prstGeom>
          <a:solidFill>
            <a:srgbClr val="070B14"/>
          </a:solidFill>
          <a:ln/>
        </p:spPr>
      </p:sp>
      <p:sp>
        <p:nvSpPr>
          <p:cNvPr id="27" name="Shape 25"/>
          <p:cNvSpPr/>
          <p:nvPr/>
        </p:nvSpPr>
        <p:spPr>
          <a:xfrm>
            <a:off x="5654040" y="3840480"/>
            <a:ext cx="1844040" cy="32918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8" name="Text 26"/>
          <p:cNvSpPr/>
          <p:nvPr/>
        </p:nvSpPr>
        <p:spPr>
          <a:xfrm>
            <a:off x="5727192" y="3849624"/>
            <a:ext cx="1697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#1 + USD 500 MRR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9520" y="38404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5,500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1920240" cy="5486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6928" y="4553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16K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" y="477316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Idéntica a v1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0" y="4343400"/>
            <a:ext cx="1920240" cy="5486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BINARIOS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670048" y="4553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670048" y="477316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CTR · LOI · MRR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343400"/>
            <a:ext cx="1920240" cy="5486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73168" y="4553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73168" y="477316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Fundadores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66560" y="4343400"/>
            <a:ext cx="1920240" cy="5486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HORAS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876288" y="4553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100-140h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76288" y="477316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 120-180 v1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· SEMANA 1 DEL REFACTOR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El refactor inicial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distingue v2 de v1 son los primeros 7 días. Invisible en output comercial, pero construye la base que evita 80% del costo de mantenimiento en M2-M3.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1117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240280"/>
            <a:ext cx="7680960" cy="457200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286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1-2 · 4-6H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orquestador de 35 a 5 agentes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11172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743200"/>
            <a:ext cx="7680960" cy="457200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788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2-4 · 5-7H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2953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eval harness desde cero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84048" cy="384048"/>
          </a:xfrm>
          <a:prstGeom prst="ellipse">
            <a:avLst/>
          </a:prstGeom>
          <a:solidFill>
            <a:srgbClr val="11172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246120"/>
            <a:ext cx="7680960" cy="457200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291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4-5 · 3-4H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3456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observabilidad con Langfuse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rgbClr val="11172A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3749040"/>
            <a:ext cx="7680960" cy="457200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794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5-6 · 2-3H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39593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DB write/eviction policy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384048" cy="384048"/>
          </a:xfrm>
          <a:prstGeom prst="ellipse">
            <a:avLst/>
          </a:prstGeom>
          <a:solidFill>
            <a:srgbClr val="11172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" y="4251960"/>
            <a:ext cx="7680960" cy="457200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6-7 · 3-5H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88720" y="4462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Rulebook expandido R13-R17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· SPRINT M1 DÍAS 8-30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M1 · Ecosistema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Días 8-30 · presupuesto USD 4,500 · gate de salida: ≥1 idea con CTR &gt;2%, CPL &lt;USD 20, &gt;50 leads cualitativos.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28600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DÍAS 8-14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legal y operativo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Wyoming LLC vía TradeBiz #130, EIN, cuenta Wells Fargo, dominio circles-ai.ai activo, Cloudflare configurado, Vercel deploy del landing público.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2377440" cy="320040"/>
          </a:xfrm>
          <a:prstGeom prst="rect">
            <a:avLst/>
          </a:prstGeom>
          <a:solidFill>
            <a:srgbClr val="0A2920"/>
          </a:solidFill>
          <a:ln w="381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Empresa operativa con vitrina pública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51760" cy="228600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· DÍAS 15-21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10 ideas + landings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5 agentes activos ejecutan el workflow lineal: idea_hunter, idea_maturer, market_validator, landing_generator producen 10 landings deployed.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29000" y="4114800"/>
            <a:ext cx="2377440" cy="320040"/>
          </a:xfrm>
          <a:prstGeom prst="rect">
            <a:avLst/>
          </a:prstGeom>
          <a:solidFill>
            <a:srgbClr val="0A2920"/>
          </a:solidFill>
          <a:ln w="381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landings funcionales con copy específico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2194560"/>
            <a:ext cx="2651760" cy="228600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· DÍAS 22-30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6364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evidence-gate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campañas Meta Ads + Google Ads activas, USD 50 cada una. Métricas en tiempo real. gate_decider evalúa, humano valida decisión final.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2377440" cy="320040"/>
          </a:xfrm>
          <a:prstGeom prst="rect">
            <a:avLst/>
          </a:prstGeom>
          <a:solidFill>
            <a:srgbClr val="0A2920"/>
          </a:solidFill>
          <a:ln w="381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Idea ganadora identificada con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M1 — umbrales mínimos para pasar a Sprint M2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&gt; 2%</a:t>
            </a:r>
            <a:pPr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&lt; USD 20</a:t>
            </a:r>
            <a:pPr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cualitativos &gt; 50 en 14 días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· SPRINTS M2 Y M3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M2 y M3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Días 31-90 · construcción del MVP y cierre del cliente #1. Solo se ejecutan si el sprint anterior pasa su gate binario.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265176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54864" cy="265176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M2 · DÍAS 31-60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Fábrica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Presupuesto USD 6,000. Construcción del MVP de la idea ganadora siguiendo F2-F5 del pipeline.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Semana 5: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F2 Legal + F3 Arquitectura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Semana 6-7: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 Desarrollo MVP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Semana 8: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F5 QA + onboarding betas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4434840"/>
            <a:ext cx="3657600" cy="320040"/>
          </a:xfrm>
          <a:prstGeom prst="rect">
            <a:avLst/>
          </a:prstGeom>
          <a:solidFill>
            <a:srgbClr val="0A2920"/>
          </a:solidFill>
          <a:ln w="381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M2: ≥3 betas activos + ≥1 LOI firmada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265176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94560"/>
            <a:ext cx="54864" cy="26517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M3 · DÍAS 61-90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Presupuesto USD 5,500. Cierre comercial del cliente #1 con pago real depositado.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Semana 9: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F6 GTM + cierre comercial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Semana 10-11: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F7 Onboarding + primer cobro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Semana 12-13: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Idea #2 paralelo + pitch deck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4434840"/>
            <a:ext cx="3657600" cy="320040"/>
          </a:xfrm>
          <a:prstGeom prst="rect">
            <a:avLst/>
          </a:prstGeom>
          <a:solidFill>
            <a:srgbClr val="2A1F0A"/>
          </a:solidFill>
          <a:ln w="381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M3 final: USD ≥500 MRR cobrado en Wells Fargo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· CONFIGURACIÓN TÉCNICA PARALELA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técnica paralela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100-140h corren en paralelo a la operación de los sprints. Cada fundador dedica ~6-7h-semana mientras avanza el resto del proyecto.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402336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activa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 clave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equipo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· Cimiento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LLC + dominio + monorepo + Supabase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· Núcleo 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agentes implementados + rulebook R13-R17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15h/sem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· Eval Harness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golden cases + judge calibrado ≥80%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12h/sem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· Observabilidad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self-hosted con traces completos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· Outcome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+ write_gate + isolation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8-9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 ·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pública + dashboard + model 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13h/sem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+ cierre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final + handoff a Sprint M2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80560"/>
            <a:ext cx="1920240" cy="5029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5079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HORAS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66928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100-140h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486460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semanas paralelas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560320" y="4480560"/>
            <a:ext cx="1920240" cy="5029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70048" y="45079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SEMANAL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670048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70048" y="486460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fundador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63440" y="4480560"/>
            <a:ext cx="1920240" cy="5029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45079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VS V1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773168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73168" y="486460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~30-40h menos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766560" y="4480560"/>
            <a:ext cx="1920240" cy="50292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450799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876288" y="4663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76288" y="486460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Reserva contingencia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RÁPIDA V1 VS V2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cambiaría y qué 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Vista compacta de las diferencias materiales entre el plan que el equipo ejecuta hoy (v1) y el escenario alternativo (v2).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(activo)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(hipotético)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total 90 días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16,000 (idéntico)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sprints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sprints con 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Idéntica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Criterios de éxito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· LOI · USD 500 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Idénticos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activos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35+ propuestos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activos + 30 deferidos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harness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 futuro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desde día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 agentes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 + PostHog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self-hosted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técnica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120-180h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100-140h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post-launch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~17h/sem por persona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~5h/sem por persona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LLM mensual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290-790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150-400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evaluación honesta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 /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/ 10 (real)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DEL ESCENARIO V2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fuéramos con v2: próximos pasos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Lista accionable de los primeros 5 movimientos si en algún momento el proyecto decidiera adoptar el escenario v2.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512064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formal de adoptar v2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4597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Reunión CEO+CTO 60 min. Revisar score 7.5 vs 6.8, ROI 6.6×. Decisión binaria documentada en ADR.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2258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CTO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día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8229600" cy="512064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07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807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Claude Code con prompt Reganti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0266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Abrir sesión con prompt como primer mensaje. Ejecutar Fase 1 (reducir a 5 agentes) con gate humano.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8254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512064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741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37413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eval harness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5935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Fase 2: 150 golden cases JSONL. Code-based primero. Labelado 50 ejemplos. Calibración judge ≥80%.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33924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CEO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95344"/>
            <a:ext cx="8229600" cy="512064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410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9410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 Langfuse self-hosted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160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Fase 3: Railway/Fly.io con Docker. Instrumentar 5 agentes. Dashboard ejecutivo 4 widgets.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9593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62272"/>
            <a:ext cx="8229600" cy="512064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5079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45079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refactor + inicio Sprint M1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7274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Fases 4-5: Outcome DB policies + rulebook R13-R17. Reporte final. Equipo arranca Sprint M1.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5262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CEO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</a:t>
            </a:r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PROYECTO CIRCLE LLC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proyecto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 no perder de vista la realidad: lo siguiente es lo que el equipo está ejecutando hoy. El escenario v2 es referencia, no plan activo.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7772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67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ACTIVA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35+ agentes plan original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651760" cy="7772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267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ACTUAL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900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2770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Ecosistema · días 1-30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651760" cy="7772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2677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GATE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6364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2770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≥1 idea con CTR &gt;2%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841248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54864" cy="841248"/>
          </a:xfrm>
          <a:prstGeom prst="rect">
            <a:avLst/>
          </a:prstGeom>
          <a:solidFill>
            <a:srgbClr val="FF6FA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546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LEGAL · PENDIENTE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Circle LLC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52958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TradeBiz #130 firmada (USD 1,980) · Acuerdo escrito con ASISERVY pendiente · Wyoming LLC + EIN + Wells Fargo · Dominio circles-ai.ai activo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023360" cy="841248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108960"/>
            <a:ext cx="54864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1546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· COMPLETADA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00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23 documentos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52958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originales v1 · 6 FlowDeck comparison · 4 Reganti review + refactor · 4 documentación paralela v2 · 1 esta presentación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4023360" cy="841248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23360"/>
            <a:ext cx="54864" cy="84124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0690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TOMADA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4360" y="4233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Continuamos con v1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44398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 90 días v1 en ejecución · Config técnica 120-180h paralela · Score honesto 6.8/10 aceptado · Refactor v2 disponible si surgen señales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4023360" cy="841248"/>
          </a:xfrm>
          <a:prstGeom prst="rect">
            <a:avLst/>
          </a:prstGeom>
          <a:solidFill>
            <a:srgbClr val="11172A"/>
          </a:solidFill>
          <a:ln w="5080">
            <a:solidFill>
              <a:srgbClr val="2A35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023360"/>
            <a:ext cx="54864" cy="8412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0690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 SE NECESITA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0600" y="4233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como plan B documentado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44398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Claude Code listo (5 fases) · Cutover de 4 docs en ~4-5h · Activación si M1 muestra carga insostenible · O si advisor recomienda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REFERENCIA ARCHIVADA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queda
</a:t>
            </a:r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registro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equipo continúa ejecutando v1. Esta presentación documenta el escenario alternativo Reganti para activación cuando surja una de las dos condiciones específicas.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4023360" cy="10058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291840"/>
            <a:ext cx="54864" cy="10058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M1 muestra carga insostenible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en los primeros 30 días el equipo detecta que mantener 35+ agentes consume más de 50% del bandwidth, activar plan B.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3291840"/>
            <a:ext cx="4023360" cy="1005840"/>
          </a:xfrm>
          <a:prstGeom prst="rect">
            <a:avLst/>
          </a:prstGeom>
          <a:solidFill>
            <a:srgbClr val="11172A"/>
          </a:solidFill>
          <a:ln w="6350">
            <a:solidFill>
              <a:srgbClr val="2A35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291840"/>
            <a:ext cx="54864" cy="10058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técnico recomienda refactor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llega un Principal Engineer externo o asesor de Anthropic for Startups recomendando alinearse con Reganti, esta presentación es el punto de partida.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Recordatorio honesto: </a:t>
            </a:r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delta real entre v1 y v2 es </a:t>
            </a:r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+0.7 puntos </a:t>
            </a:r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(6.8 → 7.5), no espectacular. El refactor se justifica principalmente por liberar tiempo de fundador para vender (~24h/semana recuperadas).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Circle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LLC v2 — Escenario Reganti</dc:title>
  <dc:subject>PptxGenJS Presentation</dc:subject>
  <dc:creator>Circle LLC</dc:creator>
  <cp:lastModifiedBy>Circle LLC</cp:lastModifiedBy>
  <cp:revision>1</cp:revision>
  <dcterms:created xsi:type="dcterms:W3CDTF">2026-05-26T11:00:38Z</dcterms:created>
  <dcterms:modified xsi:type="dcterms:W3CDTF">2026-05-26T11:00:38Z</dcterms:modified>
</cp:coreProperties>
</file>